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30ed0da7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30ed0da7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30ed0da7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30ed0da7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30ed0da7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30ed0da7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30ed0da7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30ed0da7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0ed0da7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30ed0da7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30ed0da7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30ed0da7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30ed0da7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30ed0da7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30ed0da7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30ed0da7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Genomic Expression in </a:t>
            </a:r>
            <a:r>
              <a:rPr i="1" lang="en"/>
              <a:t>Taenia solium</a:t>
            </a:r>
            <a:endParaRPr i="1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Miguel Perez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Taenia solium</a:t>
            </a:r>
            <a:r>
              <a:rPr lang="en"/>
              <a:t>/Pork Tapeworm</a:t>
            </a:r>
            <a:endParaRPr/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265500" y="1675800"/>
            <a:ext cx="4045200" cy="20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ctr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Parasitic infection upon eating raw pork meat with T. solium cysts (in meat) or eggs (in feces)</a:t>
            </a:r>
            <a:endParaRPr/>
          </a:p>
          <a:p>
            <a:pPr indent="-361950" lvl="0" marL="457200" rtl="0" algn="ctr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Abdominal pain, nausea, neurocysticercosis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572000" y="0"/>
            <a:ext cx="3427800" cy="33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of infection of concern: Evagination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outward eversion of the scolex/head from the cyst stage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Marks an important stage from dormancy to active adult development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37650"/>
            <a:ext cx="2141149" cy="16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0225" y="2744275"/>
            <a:ext cx="1613775" cy="2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90250" y="526350"/>
            <a:ext cx="7852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question: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gene expression differ in cyst development between pre-evagination and post-evagination?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650" y="2450871"/>
            <a:ext cx="1448350" cy="2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Methods | Primarily through Galaxy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DESeq2</a:t>
            </a:r>
            <a:r>
              <a:rPr lang="en" sz="1600"/>
              <a:t> </a:t>
            </a:r>
            <a:r>
              <a:rPr lang="en" sz="1600"/>
              <a:t> - </a:t>
            </a:r>
            <a:r>
              <a:rPr lang="en" sz="1600"/>
              <a:t>Takes all given conditions and sees if it is more represented in one condition or the other, gives statistical significance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Volcano Plot</a:t>
            </a:r>
            <a:r>
              <a:rPr lang="en" sz="1600"/>
              <a:t> - shows statistical significance through plotting p-values among the downregulation and upregulation of genes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HeatMap2</a:t>
            </a:r>
            <a:r>
              <a:rPr lang="en" sz="1600"/>
              <a:t> - shows the degree of upregulation and downregulation in genes</a:t>
            </a:r>
            <a:endParaRPr sz="1600"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175" y="2142075"/>
            <a:ext cx="5264825" cy="18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DESeq2 Plot and Results</a:t>
            </a:r>
            <a:endParaRPr/>
          </a:p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324352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 10 smallest and largest fold change, all statistically significant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P-adj &lt; 0.05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Significantly different gene expression!</a:t>
            </a:r>
            <a:endParaRPr/>
          </a:p>
        </p:txBody>
      </p:sp>
      <p:pic>
        <p:nvPicPr>
          <p:cNvPr id="96" name="Google Shape;96;p17" title="DESeq2resultsWithHeader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952" y="707400"/>
            <a:ext cx="3144771" cy="235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DESeqPlot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37575"/>
            <a:ext cx="3538102" cy="34865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0" y="4096900"/>
            <a:ext cx="511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Observed differential expression between pre-evagination and post-evagination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86350" y="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Volcano Plot</a:t>
            </a:r>
            <a:endParaRPr/>
          </a:p>
        </p:txBody>
      </p:sp>
      <p:pic>
        <p:nvPicPr>
          <p:cNvPr id="104" name="Google Shape;104;p18" title="VolcanoPlot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4400"/>
            <a:ext cx="4074523" cy="40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4136650" y="942000"/>
            <a:ext cx="4294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Down regulation is more populated, but also has more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statistically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significant values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Lesser FC value, less differential expression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Up regulation population is less, medially statistically significant compared to down regulation</a:t>
            </a:r>
            <a:endParaRPr sz="1800">
              <a:solidFill>
                <a:srgbClr val="FFFF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Has greater FC value, more differential expression</a:t>
            </a:r>
            <a:endParaRPr sz="1800">
              <a:solidFill>
                <a:srgbClr val="FFFF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86350" y="-5835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HeatMap2 plot</a:t>
            </a:r>
            <a:endParaRPr/>
          </a:p>
        </p:txBody>
      </p:sp>
      <p:pic>
        <p:nvPicPr>
          <p:cNvPr id="111" name="Google Shape;111;p19" title="heatmap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4300"/>
            <a:ext cx="4202574" cy="41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4202575" y="734450"/>
            <a:ext cx="4966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Down regulated gene: </a:t>
            </a:r>
            <a:r>
              <a:rPr i="1" lang="en" sz="1200">
                <a:highlight>
                  <a:schemeClr val="lt2"/>
                </a:highlight>
              </a:rPr>
              <a:t>Mical/EHBP Rab binding function MSTRG.7197.1</a:t>
            </a:r>
            <a:endParaRPr sz="2400">
              <a:solidFill>
                <a:schemeClr val="dk2"/>
              </a:solidFill>
              <a:highlight>
                <a:schemeClr val="lt2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Char char="●"/>
            </a:pP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Tubulation of cytoskeleton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Char char="○"/>
            </a:pP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Formation of flat proglottid segments, </a:t>
            </a: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characteristic</a:t>
            </a: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of cestodes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Char char="○"/>
            </a:pPr>
            <a:r>
              <a:rPr lang="en" sz="17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More heavily downregulated in post-evagination</a:t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Up regulated gene: </a:t>
            </a:r>
            <a:r>
              <a:rPr i="1" lang="en" sz="1200">
                <a:solidFill>
                  <a:schemeClr val="accent6"/>
                </a:solidFill>
                <a:highlight>
                  <a:srgbClr val="76A5AF"/>
                </a:highlight>
              </a:rPr>
              <a:t>MSTRG.6952.1 FibroNectin Type III</a:t>
            </a:r>
            <a:endParaRPr sz="2400">
              <a:solidFill>
                <a:schemeClr val="accent6"/>
              </a:solidFill>
              <a:highlight>
                <a:srgbClr val="76A5A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Open Sans"/>
              <a:buChar char="●"/>
            </a:pPr>
            <a:r>
              <a:rPr lang="en" sz="17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Only up regulated in post-evagination</a:t>
            </a:r>
            <a:endParaRPr sz="17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Open Sans"/>
              <a:buChar char="●"/>
            </a:pPr>
            <a:r>
              <a:rPr lang="en" sz="17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Cell adhesion, migration, growth</a:t>
            </a:r>
            <a:endParaRPr sz="17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Open Sans"/>
              <a:buChar char="○"/>
            </a:pPr>
            <a:r>
              <a:rPr lang="en" sz="17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Outward growth of scolex and subsequent proglottid body development.</a:t>
            </a:r>
            <a:endParaRPr sz="17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265500" y="68850"/>
            <a:ext cx="40452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65500" y="1378389"/>
            <a:ext cx="4045200" cy="9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significant differential gene expression between post-evagination and pre-evagination of T. solium!</a:t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870375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 regulation in regards to development post-evagination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Development of the proglottid segments!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 regulation in regards to body shape development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tubes! Flat body shape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Especially post-evagination!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463" y="2269725"/>
            <a:ext cx="2904524" cy="28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413586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